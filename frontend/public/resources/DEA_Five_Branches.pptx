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this: 'Before I reveal any numbers — which of your five branches do you think is most efficient?' Let them guess. Most will say D. The story works because the answer defies intuition.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third option — best output per input — is correct but the multi-dimensional nature is what DEA solves. Pause on the question before the next slide.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Don't reveal the θ column immediately. Cover it and ask students to rank A–E by efficiency. The subsequent reveal that D is worst creates a memorable teaching moment.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of DEA. The LP gives every branch the most favourable possible benchmark before declaring it inefficient. If even that best-case comparison shows waste, the verdict is undeniable.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LP and immediately connect it to the test: min θ means we find the smallest possible fraction of inputs needed. The output constraints ensure the virtual composite doesn't cheat on output. If θ &lt; 1, the branch is wasting (1-θ)% of its resources.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students column by column: 'Who wins this one?' C wins loans per staff (25.0) and loans per cost (8.33). E wins deposits per cost (1.63). Then ask: 'Who wins nothing?' D — on every ratio it ranks last. High volume ≠ efficiency.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Branch C dominates on both loan productivity ratios. The proof is simple: no other branch (or blend) can produce 100 loans with fewer than 4 staff and ₹12L. The maximum loans-per-staff anyone else achieves is 24.0 — Branch A — still below C's 25.0.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Branch E's secret is deposits per rupee of cost — 1.63, the highest number in any column. The Super C challenge is the most intuitive attack: scale up C (the loan champion). But it costs ₹18L vs E's ₹16L — the cost constraint fails by exactly ₹2L.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valuable slide for classroom discussion. A doesn't win any single ratio but holds a unique combination. The algebraic proof (attempt 3) is particularly powerful — the deposit requirement and the staff ceiling create two simultaneous infeasibilities.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synthesis slide. Each branch is efficient in a different dimension. Remove any one of them and the frontier changes. Add more branches and some scores may fall — DEA is always relative to the sample.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Branch B is 10% inefficient. The Super C dominates on every dimension. Note the staff slack (1.2 FTEs) — after the proportional reduction to 7.2, there is still a gap to the virtual peer's 6.0. The two-stage process eliminates both the radial waste and the slack.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dramatic slide in the deck. Mr. Rajan's pride in 160 loans is turned around completely. The DEA verdict: he needs 3.6 fewer staff and saves ₹8.8L per quarter. Annual saving: ₹35L. And Super C even produces more deposits than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two-stage calculation is a common exam question. Emphasise: Stage 1 always comes first (multiply all inputs by theta). Stage 2 addresses residual slacks. Cost slack is zero here — cost is the binding constraint. Staff has slack of 0.457 FTEs after Stage 1.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board-presentation slide. Give each manager one personalised sentence. Note that D's annual saving (₹35L) is the most powerful number in the deck — it translates efficiency into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 for an exit ticket: 'In one sentence — what does Branch D's score of 0.686 mean?' Expected answer: 'Branch D is using 31.4% more resources than necessary to produce its current outputs, compared to the best-practice benchmark.'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5486400" cy="5486400"/>
          </a:xfrm>
          <a:prstGeom prst="ellipse">
            <a:avLst/>
          </a:prstGeom>
          <a:solidFill>
            <a:srgbClr val="2D6A4F">
              <a:alpha val="30000"/>
            </a:srgbClr>
          </a:solidFill>
          <a:ln w="12700">
            <a:solidFill>
              <a:srgbClr val="2D6A4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3474720"/>
            <a:ext cx="3200400" cy="3200400"/>
          </a:xfrm>
          <a:prstGeom prst="ellipse">
            <a:avLst/>
          </a:prstGeom>
          <a:solidFill>
            <a:srgbClr val="B5451B">
              <a:alpha val="20000"/>
            </a:srgbClr>
          </a:solidFill>
          <a:ln w="12700">
            <a:solidFill>
              <a:srgbClr val="B5451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2926080"/>
            <a:ext cx="2560320" cy="2560320"/>
          </a:xfrm>
          <a:prstGeom prst="ellipse">
            <a:avLst/>
          </a:prstGeom>
          <a:solidFill>
            <a:srgbClr val="52B788">
              <a:alpha val="15000"/>
            </a:srgbClr>
          </a:solidFill>
          <a:ln w="12700">
            <a:solidFill>
              <a:srgbClr val="52B788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77240"/>
            <a:ext cx="2560320" cy="347472"/>
          </a:xfrm>
          <a:prstGeom prst="roundRect">
            <a:avLst>
              <a:gd name="adj" fmla="val 39474"/>
            </a:avLst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7724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DEA Story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23444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Five</a:t>
            </a:r>
            <a:endParaRPr lang="en-US" sz="62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6200" b="1" dirty="0">
                <a:solidFill>
                  <a:srgbClr val="D49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Branches</a:t>
            </a:r>
            <a:endParaRPr lang="en-US" sz="6200" dirty="0"/>
          </a:p>
        </p:txBody>
      </p:sp>
      <p:sp>
        <p:nvSpPr>
          <p:cNvPr id="9" name="Shape 7"/>
          <p:cNvSpPr/>
          <p:nvPr/>
        </p:nvSpPr>
        <p:spPr>
          <a:xfrm>
            <a:off x="548640" y="3218688"/>
            <a:ext cx="45720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383280"/>
            <a:ext cx="6858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9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truly efficient — and by how much?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48640" y="388620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B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Measuring Efficiency in Service Operations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FB8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Data Envelopment Analysis (DEA)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Sanjay Fuloria  |  MBA 3rd Semester  |  IFHE Hyderabad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4572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Setup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7315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371600"/>
          </a:xfrm>
          <a:prstGeom prst="roundRect">
            <a:avLst>
              <a:gd name="adj" fmla="val 8000"/>
            </a:avLst>
          </a:prstGeom>
          <a:solidFill>
            <a:srgbClr val="F5ECD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51560"/>
            <a:ext cx="640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🏦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280160" y="1024128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Regional Head of Operations for a mid-sized Indian bank. You oversee five branches. Every quarter, the Board asks: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554480"/>
            <a:ext cx="73152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"Which branch is most efficient — and what are the underperformers doing wrong?"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2487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naive answers all fail: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907792"/>
            <a:ext cx="8412480" cy="603504"/>
          </a:xfrm>
          <a:prstGeom prst="roundRect">
            <a:avLst>
              <a:gd name="adj" fmla="val 12121"/>
            </a:avLst>
          </a:prstGeom>
          <a:solidFill>
            <a:srgbClr val="FFF0EB"/>
          </a:solidFill>
          <a:ln/>
        </p:spPr>
      </p:sp>
      <p:sp>
        <p:nvSpPr>
          <p:cNvPr id="11" name="Shape 9"/>
          <p:cNvSpPr/>
          <p:nvPr/>
        </p:nvSpPr>
        <p:spPr>
          <a:xfrm>
            <a:off x="475488" y="3017520"/>
            <a:ext cx="384048" cy="384048"/>
          </a:xfrm>
          <a:prstGeom prst="ellipse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30175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960120" y="2962656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Biggest output?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17520" y="2962656"/>
            <a:ext cx="5623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 — 160 loans. But it uses 10 staff and ₹28L. Is that efficient or just large?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3584448"/>
            <a:ext cx="8412480" cy="603504"/>
          </a:xfrm>
          <a:prstGeom prst="roundRect">
            <a:avLst>
              <a:gd name="adj" fmla="val 12121"/>
            </a:avLst>
          </a:prstGeom>
          <a:solidFill>
            <a:srgbClr val="FFF0EB"/>
          </a:solidFill>
          <a:ln/>
        </p:spPr>
      </p:sp>
      <p:sp>
        <p:nvSpPr>
          <p:cNvPr id="16" name="Shape 14"/>
          <p:cNvSpPr/>
          <p:nvPr/>
        </p:nvSpPr>
        <p:spPr>
          <a:xfrm>
            <a:off x="475488" y="3694176"/>
            <a:ext cx="384048" cy="384048"/>
          </a:xfrm>
          <a:prstGeom prst="ellipse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36941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60120" y="3639312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cost?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017520" y="3639312"/>
            <a:ext cx="5623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C — ₹12L. But it also has the lowest output. Is that a win?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4261104"/>
            <a:ext cx="8412480" cy="603504"/>
          </a:xfrm>
          <a:prstGeom prst="roundRect">
            <a:avLst>
              <a:gd name="adj" fmla="val 12121"/>
            </a:avLst>
          </a:prstGeom>
          <a:solidFill>
            <a:srgbClr val="EDFFF5"/>
          </a:solidFill>
          <a:ln/>
        </p:spPr>
      </p:sp>
      <p:sp>
        <p:nvSpPr>
          <p:cNvPr id="21" name="Shape 19"/>
          <p:cNvSpPr/>
          <p:nvPr/>
        </p:nvSpPr>
        <p:spPr>
          <a:xfrm>
            <a:off x="475488" y="4370832"/>
            <a:ext cx="384048" cy="384048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4370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60120" y="4315968"/>
            <a:ext cx="201168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output/input?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017520" y="4315968"/>
            <a:ext cx="56235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but we have TWO inputs and TWO outputs. How do we combine them fairly?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 the Five Branches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7315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inputs · 2 outputs · 5 branches — cover the last column and ask students to rank first</a:t>
            </a:r>
            <a:endParaRPr lang="en-US" sz="1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8412480" cy="3108960"/>
        </p:xfrm>
        <a:graphic>
          <a:graphicData uri="http://schemas.openxmlformats.org/drawingml/2006/table">
            <a:tbl>
              <a:tblPr/>
              <a:tblGrid>
                <a:gridCol w="1371600"/>
                <a:gridCol w="1371600"/>
                <a:gridCol w="1463040"/>
                <a:gridCol w="1280160"/>
                <a:gridCol w="1554480"/>
                <a:gridCol w="1371600"/>
              </a:tblGrid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(FTEs)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(₹ Lakhs)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Loans (#)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Deposits (₹Cr)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 Score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51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0.686 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181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365760" y="4462272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 — 160 loans, largest team — scores WORST.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0" y="446227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7B5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Efficient   ⚠ Moderate   ✗ Inefficient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2D6A4F">
              <a:alpha val="25000"/>
            </a:srgbClr>
          </a:solidFill>
          <a:ln w="12700">
            <a:solidFill>
              <a:srgbClr val="2D6A4F">
                <a:alpha val="2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DEA Test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024128"/>
            <a:ext cx="7772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 — One question, applied to every branch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81328"/>
            <a:ext cx="8229600" cy="1417320"/>
          </a:xfrm>
          <a:prstGeom prst="roundRect">
            <a:avLst>
              <a:gd name="adj" fmla="val 10323"/>
            </a:avLst>
          </a:prstGeom>
          <a:solidFill>
            <a:srgbClr val="2D6A4F"/>
          </a:solidFill>
          <a:ln/>
          <a:effectLst>
            <a:outerShdw sx="100000" sy="100000" kx="0" ky="0" algn="bl" rotWithShape="0" blurRad="127000" dist="50800" dir="2700000">
              <a:srgbClr val="1B4332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640080" y="1572768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any 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" y="1572768"/>
            <a:ext cx="7863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any blend of the other branches produce at least as much output as THIS branch, using strictly fewer inputs?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3090672"/>
            <a:ext cx="3931920" cy="1755648"/>
          </a:xfrm>
          <a:prstGeom prst="roundRect">
            <a:avLst>
              <a:gd name="adj" fmla="val 7292"/>
            </a:avLst>
          </a:prstGeom>
          <a:solidFill>
            <a:srgbClr val="FEFAE0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31821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NO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594360" y="3657600"/>
            <a:ext cx="320040" cy="3200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36393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1.000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4041648"/>
            <a:ext cx="320040" cy="3200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0233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5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on the efficiency frontier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4360" y="4416552"/>
            <a:ext cx="320040" cy="32004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43982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5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best practice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090672"/>
            <a:ext cx="3931920" cy="1755648"/>
          </a:xfrm>
          <a:prstGeom prst="roundRect">
            <a:avLst>
              <a:gd name="adj" fmla="val 7292"/>
            </a:avLst>
          </a:prstGeom>
          <a:solidFill>
            <a:srgbClr val="F5ECD7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92040" y="318211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545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 YES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4892040" y="3657600"/>
            <a:ext cx="320040" cy="320040"/>
          </a:xfrm>
          <a:prstGeom prst="ellipse">
            <a:avLst/>
          </a:prstGeom>
          <a:solidFill>
            <a:srgbClr val="D4956A"/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0" y="363931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1.000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92040" y="4041648"/>
            <a:ext cx="320040" cy="320040"/>
          </a:xfrm>
          <a:prstGeom prst="ellipse">
            <a:avLst/>
          </a:prstGeom>
          <a:solidFill>
            <a:srgbClr val="D4956A"/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03520" y="402336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5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been dominated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92040" y="4416552"/>
            <a:ext cx="320040" cy="320040"/>
          </a:xfrm>
          <a:prstGeom prst="ellipse">
            <a:avLst/>
          </a:prstGeom>
          <a:solidFill>
            <a:srgbClr val="D4956A"/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303520" y="439826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B5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% of inputs actually needed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Mathematics Behind DEA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7315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LP per branch — solve it 5 times and you have the complete picture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572000" cy="3566160"/>
          </a:xfrm>
          <a:prstGeom prst="roundRect">
            <a:avLst>
              <a:gd name="adj" fmla="val 3590"/>
            </a:avLst>
          </a:prstGeom>
          <a:solidFill>
            <a:srgbClr val="3D2B1F"/>
          </a:solidFill>
          <a:ln/>
          <a:effectLst>
            <a:outerShdw sx="100000" sy="100000" kx="0" ky="0" algn="bl" rotWithShape="0" blurRad="127000" dist="50800" dir="2700000">
              <a:srgbClr val="1B4332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32588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95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  θ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181051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D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subject to: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22199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D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constraints: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49631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Σⱼ λⱼ · Xⱼ  ≤  θ · X₀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90779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D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 constraints: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18211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Σⱼ λⱼ · Yⱼ  ≥  Y₀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48640" y="359359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D6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Non-negativity: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8640" y="386791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λⱼ ≥ 0  for all j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66360" y="123444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166360" y="1719072"/>
            <a:ext cx="3611880" cy="658368"/>
          </a:xfrm>
          <a:prstGeom prst="roundRect">
            <a:avLst>
              <a:gd name="adj" fmla="val 11111"/>
            </a:avLst>
          </a:prstGeom>
          <a:solidFill>
            <a:srgbClr val="FEFAE0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257800" y="1755648"/>
            <a:ext cx="777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035040" y="1755648"/>
            <a:ext cx="2651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efficiency score we minimise. The LP finds the smallest θ such that the virtual composite still covers this branch's outputs.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66360" y="2468880"/>
            <a:ext cx="3611880" cy="658368"/>
          </a:xfrm>
          <a:prstGeom prst="roundRect">
            <a:avLst>
              <a:gd name="adj" fmla="val 11111"/>
            </a:avLst>
          </a:prstGeom>
          <a:solidFill>
            <a:srgbClr val="FEFAE0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257800" y="2505456"/>
            <a:ext cx="777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λⱼ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035040" y="2505456"/>
            <a:ext cx="2651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given to peer branch j in the virtual composite. These are the blending proportions DEA discovers.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166360" y="3218688"/>
            <a:ext cx="3611880" cy="658368"/>
          </a:xfrm>
          <a:prstGeom prst="roundRect">
            <a:avLst>
              <a:gd name="adj" fmla="val 11111"/>
            </a:avLst>
          </a:prstGeom>
          <a:solidFill>
            <a:srgbClr val="FEFAE0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257800" y="3255264"/>
            <a:ext cx="777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Xⱼ/X₀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035040" y="3255264"/>
            <a:ext cx="2651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vectors — j's inputs vs the branch being evaluated.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166360" y="3968496"/>
            <a:ext cx="3611880" cy="658368"/>
          </a:xfrm>
          <a:prstGeom prst="roundRect">
            <a:avLst>
              <a:gd name="adj" fmla="val 11111"/>
            </a:avLst>
          </a:prstGeom>
          <a:solidFill>
            <a:srgbClr val="FEFAE0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257800" y="4005072"/>
            <a:ext cx="7772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451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Yⱼ/Y₀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035040" y="4005072"/>
            <a:ext cx="265176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vectors — j's outputs vs the branch being evaluated.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166360" y="4663440"/>
            <a:ext cx="3611880" cy="347472"/>
          </a:xfrm>
          <a:prstGeom prst="roundRect">
            <a:avLst>
              <a:gd name="adj" fmla="val 23684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66360" y="4663440"/>
            <a:ext cx="3611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instantly in DEA·Lab →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315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Ratios — The First Clue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7315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77824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ratios for every branch — ★ marks the champion of each dimension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07008"/>
          <a:ext cx="8412480" cy="2834640"/>
        </p:xfrm>
        <a:graphic>
          <a:graphicData uri="http://schemas.openxmlformats.org/drawingml/2006/table">
            <a:tbl>
              <a:tblPr/>
              <a:tblGrid>
                <a:gridCol w="1554480"/>
                <a:gridCol w="1737360"/>
                <a:gridCol w="1737360"/>
                <a:gridCol w="1691640"/>
                <a:gridCol w="1691640"/>
              </a:tblGrid>
              <a:tr h="472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Loans / Staff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Loans / ₹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Deposits / Staff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Deposits / ₹ 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51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C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8.33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4.80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E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1.63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51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D ✗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160520"/>
            <a:ext cx="8412480" cy="658368"/>
          </a:xfrm>
          <a:prstGeom prst="roundRect">
            <a:avLst>
              <a:gd name="adj" fmla="val 13889"/>
            </a:avLst>
          </a:prstGeom>
          <a:solidFill>
            <a:srgbClr val="1B4332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02920" y="4187952"/>
            <a:ext cx="82296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efficient branch is champion of at least one ratio. Branch D leads on nothing — it ranks last on every single measure.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Branch C Scores 1.000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863840" y="109728"/>
            <a:ext cx="1051560" cy="566928"/>
          </a:xfrm>
          <a:prstGeom prst="roundRect">
            <a:avLst>
              <a:gd name="adj" fmla="val 16129"/>
            </a:avLst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109728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377440" cy="3886200"/>
          </a:xfrm>
          <a:prstGeom prst="roundRect">
            <a:avLst>
              <a:gd name="adj" fmla="val 5385"/>
            </a:avLst>
          </a:prstGeom>
          <a:solidFill>
            <a:srgbClr val="1B4332"/>
          </a:solidFill>
          <a:ln/>
          <a:effectLst>
            <a:outerShdw sx="100000" sy="100000" kx="0" ky="0" algn="bl" rotWithShape="0" blurRad="127000" dist="50800" dir="2700000">
              <a:srgbClr val="1B4332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7899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C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5179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9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staff · ₹12L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922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100 loans · ₹18Cr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1828800" cy="2743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31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θ* =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08760" y="2331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28346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λ_C =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346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3375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9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08760" y="3337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Itself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38404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productivity champion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187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loans/FTE · 8.33 loans/₹L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0" y="960120"/>
            <a:ext cx="5852160" cy="3886200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063240" y="1078992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any blend beat Branch C?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063240" y="150876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match C's 100 loans using fewer than 4 staff: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63240" y="187452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need loans/staff &gt; 25.0 — but</a:t>
            </a:r>
            <a:endParaRPr lang="en-US" sz="1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63240" y="2212848"/>
          <a:ext cx="5577840" cy="1600200"/>
        </p:xfrm>
        <a:graphic>
          <a:graphicData uri="http://schemas.openxmlformats.org/drawingml/2006/table">
            <a:tbl>
              <a:tblPr/>
              <a:tblGrid>
                <a:gridCol w="1828800"/>
                <a:gridCol w="2286000"/>
                <a:gridCol w="146304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Loans per Staff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 beat C?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18.75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21.67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No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3063240" y="3913632"/>
            <a:ext cx="5577840" cy="713232"/>
          </a:xfrm>
          <a:prstGeom prst="roundRect">
            <a:avLst>
              <a:gd name="adj" fmla="val 12821"/>
            </a:avLst>
          </a:prstGeom>
          <a:solidFill>
            <a:srgbClr val="EDFFF5"/>
          </a:solidFill>
          <a:ln/>
        </p:spPr>
      </p:sp>
      <p:sp>
        <p:nvSpPr>
          <p:cNvPr id="25" name="Text 22"/>
          <p:cNvSpPr/>
          <p:nvPr/>
        </p:nvSpPr>
        <p:spPr>
          <a:xfrm>
            <a:off x="3154680" y="3950208"/>
            <a:ext cx="5394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achieves more than 25 loans per staff member. The LP returns θ* = 1.000, λ_C = 1.0. Branch C is its own benchmark — undominated.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AE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6400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Branch E Scores 1.000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863840" y="109728"/>
            <a:ext cx="1051560" cy="566928"/>
          </a:xfrm>
          <a:prstGeom prst="roundRect">
            <a:avLst>
              <a:gd name="adj" fmla="val 16129"/>
            </a:avLst>
          </a:prstGeom>
          <a:solidFill>
            <a:srgbClr val="D4956A"/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0" y="109728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5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2377440" cy="3886200"/>
          </a:xfrm>
          <a:prstGeom prst="roundRect">
            <a:avLst>
              <a:gd name="adj" fmla="val 5385"/>
            </a:avLst>
          </a:prstGeom>
          <a:solidFill>
            <a:srgbClr val="B5451B"/>
          </a:solidFill>
          <a:ln/>
          <a:effectLst>
            <a:outerShdw sx="100000" sy="100000" kx="0" ky="0" algn="bl" rotWithShape="0" blurRad="127000" dist="50800" dir="2700000">
              <a:srgbClr val="1B4332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078992"/>
            <a:ext cx="23774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65760" y="151790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staff · ₹16L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17922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130 loans · ₹26Cr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148840"/>
            <a:ext cx="1828800" cy="27432"/>
          </a:xfrm>
          <a:prstGeom prst="rect">
            <a:avLst/>
          </a:prstGeom>
          <a:solidFill>
            <a:srgbClr val="FFD4B8"/>
          </a:solidFill>
          <a:ln w="12700">
            <a:solidFill>
              <a:srgbClr val="FFD4B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33172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θ* =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508760" y="233172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" y="283464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λ_E =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508760" y="283464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02920" y="333756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508760" y="3337560"/>
            <a:ext cx="1097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Itself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65760" y="384048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efficiency champion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18795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D4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1.63 deposits/₹L — highest in dataset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926080" y="960120"/>
            <a:ext cx="5852160" cy="3886200"/>
          </a:xfrm>
          <a:prstGeom prst="roundRect">
            <a:avLst>
              <a:gd name="adj" fmla="val 32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063240" y="1078992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Best challenge: Scale Branch C by 1.5×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063240" y="1508760"/>
            <a:ext cx="5577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"Super C" = 1.5 × Branch C. Can it beat Branch E's ₹26Cr deposits at ₹16L cost?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063240" y="1938528"/>
          <a:ext cx="5577840" cy="1188720"/>
        </p:xfrm>
        <a:graphic>
          <a:graphicData uri="http://schemas.openxmlformats.org/drawingml/2006/table">
            <a:tbl>
              <a:tblPr/>
              <a:tblGrid>
                <a:gridCol w="1920240"/>
                <a:gridCol w="914400"/>
                <a:gridCol w="1005840"/>
                <a:gridCol w="914400"/>
                <a:gridCol w="822960"/>
              </a:tblGrid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E (target)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₹16L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₹26Cr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C (1.5×C)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₹18L 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₹27Cr 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3063240" y="3246120"/>
            <a:ext cx="5577840" cy="594360"/>
          </a:xfrm>
          <a:prstGeom prst="roundRect">
            <a:avLst>
              <a:gd name="adj" fmla="val 12308"/>
            </a:avLst>
          </a:prstGeom>
          <a:solidFill>
            <a:srgbClr val="FFF0EB"/>
          </a:solidFill>
          <a:ln/>
        </p:spPr>
      </p:sp>
      <p:sp>
        <p:nvSpPr>
          <p:cNvPr id="24" name="Text 21"/>
          <p:cNvSpPr/>
          <p:nvPr/>
        </p:nvSpPr>
        <p:spPr>
          <a:xfrm>
            <a:off x="3154680" y="3273552"/>
            <a:ext cx="53949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C spends ₹18L — ₹2L MORE than Branch E's ₹16L. </a:t>
            </a:r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cost constraint is violated. No blend can match E's deposit output at E's cost level.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063240" y="3950208"/>
            <a:ext cx="5577840" cy="658368"/>
          </a:xfrm>
          <a:prstGeom prst="roundRect">
            <a:avLst>
              <a:gd name="adj" fmla="val 13889"/>
            </a:avLst>
          </a:prstGeom>
          <a:solidFill>
            <a:srgbClr val="F5ECD7"/>
          </a:solidFill>
          <a:ln/>
        </p:spPr>
      </p:sp>
      <p:sp>
        <p:nvSpPr>
          <p:cNvPr id="26" name="Text 23"/>
          <p:cNvSpPr/>
          <p:nvPr/>
        </p:nvSpPr>
        <p:spPr>
          <a:xfrm>
            <a:off x="3154680" y="397764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E's advantage: </a:t>
            </a:r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1.63 deposits per lakh — the highest in the dataset — generating ₹26Cr deposits without spending at least ₹16L is impossible. Branch E defines the deposit cost frontier.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EC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7B5842"/>
          </a:solidFill>
          <a:ln w="12700">
            <a:solidFill>
              <a:srgbClr val="7B58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Branch A Scores 1.000  (The Subtle One)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955280" y="109728"/>
            <a:ext cx="1051560" cy="566928"/>
          </a:xfrm>
          <a:prstGeom prst="roundRect">
            <a:avLst>
              <a:gd name="adj" fmla="val 16129"/>
            </a:avLst>
          </a:prstGeom>
          <a:solidFill>
            <a:srgbClr val="D4956A"/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0" y="109728"/>
            <a:ext cx="1051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6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8961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A: 5 staff · ₹15L → 120 loans · ₹24Cr  |  Leads no single ratio — yet scores 1.0. Why?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261872"/>
            <a:ext cx="84124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" y="1399032"/>
            <a:ext cx="347472" cy="347472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" y="139903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32688" y="1353312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1: Scale up Branch C by 1.2×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32688" y="1673352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 × C → 4.8 staff ✓, ₹14.4L ✓, 120 loans ✓, ₹21.6Cr deposits ✗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32688" y="197510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Fails: deposits only ₹21.6Cr &lt; ₹24Cr required. Short by ₹2.4Cr.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2432304"/>
            <a:ext cx="84124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5488" y="2569464"/>
            <a:ext cx="347472" cy="347472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256946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32688" y="2523744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2: Use Branch E (the deposit champion)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32688" y="284378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 uses 6 staff — already exceeds A's 5. At λ_E ≤ 5/6 = 0.833 → only 108 loans, not 120.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32688" y="314553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Fails: even at maximum feasible scale, loans fall short.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602736"/>
            <a:ext cx="8412480" cy="1078992"/>
          </a:xfrm>
          <a:prstGeom prst="roundRect">
            <a:avLst>
              <a:gd name="adj" fmla="val 847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" y="3739896"/>
            <a:ext cx="347472" cy="347472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373989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32688" y="3694176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Attempt 3: Blend C + E (α = 0.6, β = 0.433 max)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32688" y="4014216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β ≥ 0.462 required for loans, but β ≤ 0.433 from staff constraint.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32688" y="431596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Fails: deposit need pushes β up; staff ceiling pulls it down. Simultaneously infeasible at θ &lt; 1.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4773168"/>
            <a:ext cx="8412480" cy="274320"/>
          </a:xfrm>
          <a:prstGeom prst="roundRect">
            <a:avLst>
              <a:gd name="adj" fmla="val 20000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A is the only unit combining ₹24Cr deposits + 120 loans at the 5-staff, ₹15L scale. Every blend attempt breaks on deposit volume or staff limit.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4572000" cy="4572000"/>
          </a:xfrm>
          <a:prstGeom prst="ellipse">
            <a:avLst/>
          </a:prstGeom>
          <a:solidFill>
            <a:srgbClr val="2D6A4F">
              <a:alpha val="22000"/>
            </a:srgbClr>
          </a:solidFill>
          <a:ln w="12700">
            <a:solidFill>
              <a:srgbClr val="2D6A4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200400"/>
            <a:ext cx="2743200" cy="2743200"/>
          </a:xfrm>
          <a:prstGeom prst="ellipse">
            <a:avLst/>
          </a:prstGeom>
          <a:solidFill>
            <a:srgbClr val="B5451B">
              <a:alpha val="18000"/>
            </a:srgbClr>
          </a:solidFill>
          <a:ln w="12700">
            <a:solidFill>
              <a:srgbClr val="B5451B">
                <a:alpha val="18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743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Efficiency Frontier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96012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9D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champions — three corners — one frontier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11480" y="1463040"/>
            <a:ext cx="2651760" cy="3383280"/>
          </a:xfrm>
          <a:prstGeom prst="roundRect">
            <a:avLst>
              <a:gd name="adj" fmla="val 5517"/>
            </a:avLst>
          </a:prstGeom>
          <a:solidFill>
            <a:srgbClr val="2D6A4F"/>
          </a:solidFill>
          <a:ln/>
          <a:effectLst>
            <a:outerShdw sx="100000" sy="100000" kx="0" ky="0" algn="bl" rotWithShape="0" blurRad="127000" dist="50800" dir="2700000">
              <a:srgbClr val="1B4332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17320" y="1536192"/>
            <a:ext cx="658368" cy="65836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5361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85800" y="2286000"/>
            <a:ext cx="2103120" cy="274320"/>
          </a:xfrm>
          <a:prstGeom prst="roundRect">
            <a:avLst>
              <a:gd name="adj" fmla="val 33333"/>
            </a:avLst>
          </a:prstGeom>
          <a:solidFill>
            <a:srgbClr val="52B788">
              <a:alpha val="40000"/>
            </a:srgbClr>
          </a:solidFill>
          <a:ln w="12700">
            <a:solidFill>
              <a:srgbClr val="52B788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86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Champion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63347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C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21208" y="310896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loans/FTE · 8.33 loans/₹L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675888"/>
            <a:ext cx="1920240" cy="27432"/>
          </a:xfrm>
          <a:prstGeom prst="rect">
            <a:avLst/>
          </a:prstGeom>
          <a:solidFill>
            <a:srgbClr val="52B788">
              <a:alpha val="50000"/>
            </a:srgbClr>
          </a:solidFill>
          <a:ln w="12700">
            <a:solidFill>
              <a:srgbClr val="52B788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21208" y="374904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loan-productive unit. Appears as benchmark peer for B and D.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1463040"/>
            <a:ext cx="2651760" cy="3383280"/>
          </a:xfrm>
          <a:prstGeom prst="roundRect">
            <a:avLst>
              <a:gd name="adj" fmla="val 5517"/>
            </a:avLst>
          </a:prstGeom>
          <a:solidFill>
            <a:srgbClr val="B5451B"/>
          </a:solidFill>
          <a:ln/>
          <a:effectLst>
            <a:outerShdw sx="100000" sy="100000" kx="0" ky="0" algn="bl" rotWithShape="0" blurRad="127000" dist="50800" dir="2700000">
              <a:srgbClr val="1B4332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297680" y="1536192"/>
            <a:ext cx="658368" cy="65836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15361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566160" y="2286000"/>
            <a:ext cx="2103120" cy="274320"/>
          </a:xfrm>
          <a:prstGeom prst="roundRect">
            <a:avLst>
              <a:gd name="adj" fmla="val 33333"/>
            </a:avLst>
          </a:prstGeom>
          <a:solidFill>
            <a:srgbClr val="D4956A">
              <a:alpha val="40000"/>
            </a:srgbClr>
          </a:solidFill>
          <a:ln w="12700">
            <a:solidFill>
              <a:srgbClr val="D4956A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566160" y="2286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 Champion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91840" y="263347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01568" y="310896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1.63 deposits/₹L — highest in dataset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0" y="3675888"/>
            <a:ext cx="1920240" cy="27432"/>
          </a:xfrm>
          <a:prstGeom prst="rect">
            <a:avLst/>
          </a:prstGeom>
          <a:solidFill>
            <a:srgbClr val="D4956A">
              <a:alpha val="50000"/>
            </a:srgbClr>
          </a:solidFill>
          <a:ln w="12700">
            <a:solidFill>
              <a:srgbClr val="D4956A">
                <a:alpha val="5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01568" y="374904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deposit-efficient unit. Impossible to replicate at its cost level.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172200" y="1463040"/>
            <a:ext cx="2651760" cy="3383280"/>
          </a:xfrm>
          <a:prstGeom prst="roundRect">
            <a:avLst>
              <a:gd name="adj" fmla="val 5517"/>
            </a:avLst>
          </a:prstGeom>
          <a:solidFill>
            <a:srgbClr val="7B5842"/>
          </a:solidFill>
          <a:ln/>
          <a:effectLst>
            <a:outerShdw sx="100000" sy="100000" kx="0" ky="0" algn="bl" rotWithShape="0" blurRad="127000" dist="50800" dir="2700000">
              <a:srgbClr val="1B4332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178040" y="1536192"/>
            <a:ext cx="658368" cy="65836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78040" y="1536192"/>
            <a:ext cx="65836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446520" y="2286000"/>
            <a:ext cx="2103120" cy="274320"/>
          </a:xfrm>
          <a:prstGeom prst="roundRect">
            <a:avLst>
              <a:gd name="adj" fmla="val 33333"/>
            </a:avLst>
          </a:prstGeom>
          <a:solidFill>
            <a:srgbClr val="F5ECD7">
              <a:alpha val="40000"/>
            </a:srgbClr>
          </a:solidFill>
          <a:ln w="12700">
            <a:solidFill>
              <a:srgbClr val="F5ECD7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46520" y="22860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Position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172200" y="2633472"/>
            <a:ext cx="2651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A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6281928" y="310896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EC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deposit+loan balance at 5-FTE scale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37960" y="3675888"/>
            <a:ext cx="1920240" cy="27432"/>
          </a:xfrm>
          <a:prstGeom prst="rect">
            <a:avLst/>
          </a:prstGeom>
          <a:solidFill>
            <a:srgbClr val="F5ECD7">
              <a:alpha val="50000"/>
            </a:srgbClr>
          </a:solidFill>
          <a:ln w="12700">
            <a:solidFill>
              <a:srgbClr val="F5ECD7">
                <a:alpha val="5000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81928" y="3749040"/>
            <a:ext cx="24323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unit holding this combination. Every blend attempt fails simultaneously.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11480" y="4846320"/>
            <a:ext cx="8412480" cy="256032"/>
          </a:xfrm>
          <a:prstGeom prst="roundRect">
            <a:avLst>
              <a:gd name="adj" fmla="val 21429"/>
            </a:avLst>
          </a:prstGeom>
          <a:solidFill>
            <a:srgbClr val="52B788">
              <a:alpha val="80000"/>
            </a:srgbClr>
          </a:solidFill>
          <a:ln w="12700">
            <a:solidFill>
              <a:srgbClr val="52B788">
                <a:alpha val="8000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1480" y="482803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B and D are inside this frontier — they are dominated by virtual composites of A, C, and E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B — The Near Miss  (θ = 0.900)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772400" y="7315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886968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peer: Super C = 1.5 × Branch C  |  10% of Branch B's resources are being wasted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261872"/>
          <a:ext cx="8412480" cy="1261872"/>
        </p:xfrm>
        <a:graphic>
          <a:graphicData uri="http://schemas.openxmlformats.org/drawingml/2006/table">
            <a:tbl>
              <a:tblPr/>
              <a:tblGrid>
                <a:gridCol w="2011680"/>
                <a:gridCol w="1188720"/>
                <a:gridCol w="1188720"/>
                <a:gridCol w="1188720"/>
                <a:gridCol w="1371600"/>
                <a:gridCol w="1463040"/>
              </a:tblGrid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Verdict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51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B (actual)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₹20L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₹25Cr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7B5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D6A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C (1.5×C)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₹18L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150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₹27Cr ✓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Dominates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265176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Two-Stage Improvement Plan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365760" y="3072384"/>
            <a:ext cx="42519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02920" y="3172968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2D6A4F"/>
          </a:solidFill>
          <a:ln w="12700">
            <a:solidFill>
              <a:srgbClr val="2D6A4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31729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1508760" y="319125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5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Contraction  (× θ = 0.90)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02920" y="3584448"/>
            <a:ext cx="3977640" cy="566928"/>
          </a:xfrm>
          <a:prstGeom prst="roundRect">
            <a:avLst>
              <a:gd name="adj" fmla="val 11290"/>
            </a:avLst>
          </a:prstGeom>
          <a:solidFill>
            <a:srgbClr val="F5ECD7"/>
          </a:solidFill>
          <a:ln/>
        </p:spPr>
      </p:sp>
      <p:sp>
        <p:nvSpPr>
          <p:cNvPr id="13" name="Text 10"/>
          <p:cNvSpPr/>
          <p:nvPr/>
        </p:nvSpPr>
        <p:spPr>
          <a:xfrm>
            <a:off x="594360" y="363931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600200" y="36393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5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FTEs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697480" y="363931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0.90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063240" y="363931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FTEs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502920" y="4242816"/>
            <a:ext cx="3977640" cy="566928"/>
          </a:xfrm>
          <a:prstGeom prst="roundRect">
            <a:avLst>
              <a:gd name="adj" fmla="val 11290"/>
            </a:avLst>
          </a:prstGeom>
          <a:solidFill>
            <a:srgbClr val="F5ECD7"/>
          </a:solidFill>
          <a:ln/>
        </p:spPr>
      </p:sp>
      <p:sp>
        <p:nvSpPr>
          <p:cNvPr id="18" name="Text 15"/>
          <p:cNvSpPr/>
          <p:nvPr/>
        </p:nvSpPr>
        <p:spPr>
          <a:xfrm>
            <a:off x="594360" y="42976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600200" y="4297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5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₹20L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697480" y="4297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0.90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3063240" y="429768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₹18.0L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800600" y="3072384"/>
            <a:ext cx="4251960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937760" y="3172968"/>
            <a:ext cx="914400" cy="320040"/>
          </a:xfrm>
          <a:prstGeom prst="roundRect">
            <a:avLst>
              <a:gd name="adj" fmla="val 22857"/>
            </a:avLst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37760" y="317296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943600" y="319125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5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Elimination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4937760" y="3584448"/>
            <a:ext cx="3977640" cy="566928"/>
          </a:xfrm>
          <a:prstGeom prst="roundRect">
            <a:avLst>
              <a:gd name="adj" fmla="val 11290"/>
            </a:avLst>
          </a:prstGeom>
          <a:solidFill>
            <a:srgbClr val="F5ECD7"/>
          </a:solidFill>
          <a:ln/>
        </p:spPr>
      </p:sp>
      <p:sp>
        <p:nvSpPr>
          <p:cNvPr id="27" name="Text 24"/>
          <p:cNvSpPr/>
          <p:nvPr/>
        </p:nvSpPr>
        <p:spPr>
          <a:xfrm>
            <a:off x="5029200" y="3639312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slack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6035040" y="3639312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5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7.2 − 6.0 = 1.2 FTEs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132320" y="3639312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498080" y="3639312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Final: 6.0 FTEs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4937760" y="4242816"/>
            <a:ext cx="3977640" cy="566928"/>
          </a:xfrm>
          <a:prstGeom prst="roundRect">
            <a:avLst>
              <a:gd name="adj" fmla="val 11290"/>
            </a:avLst>
          </a:prstGeom>
          <a:solidFill>
            <a:srgbClr val="F5ECD7"/>
          </a:solidFill>
          <a:ln/>
        </p:spPr>
      </p:sp>
      <p:sp>
        <p:nvSpPr>
          <p:cNvPr id="32" name="Text 29"/>
          <p:cNvSpPr/>
          <p:nvPr/>
        </p:nvSpPr>
        <p:spPr>
          <a:xfrm>
            <a:off x="5029200" y="429768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D2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slack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035040" y="42976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B5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18.0 − 18.0 = 0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7132320" y="42976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7498080" y="4297680"/>
            <a:ext cx="1325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₹18.0L (no change)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D0A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486400" cy="5486400"/>
          </a:xfrm>
          <a:prstGeom prst="ellipse">
            <a:avLst/>
          </a:prstGeom>
          <a:solidFill>
            <a:srgbClr val="B5451B">
              <a:alpha val="15000"/>
            </a:srgbClr>
          </a:solidFill>
          <a:ln w="12700">
            <a:solidFill>
              <a:srgbClr val="B5451B">
                <a:alpha val="1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D — The Biggest Surprise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02920" y="1005840"/>
            <a:ext cx="1371600" cy="274320"/>
          </a:xfrm>
          <a:prstGeom prst="roundRect">
            <a:avLst>
              <a:gd name="adj" fmla="val 33333"/>
            </a:avLst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05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8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8229600" cy="868680"/>
          </a:xfrm>
          <a:prstGeom prst="roundRect">
            <a:avLst>
              <a:gd name="adj" fmla="val 12632"/>
            </a:avLst>
          </a:prstGeom>
          <a:solidFill>
            <a:srgbClr val="B5451B">
              <a:alpha val="8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444752"/>
            <a:ext cx="7909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"We are the highest-volume branch. We process 160 loans every quarter — more than anyone else."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58368" y="2176272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Branch D Manager, before seeing the DEA results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02920" y="2542032"/>
            <a:ext cx="3840480" cy="2377440"/>
          </a:xfrm>
          <a:prstGeom prst="roundRect">
            <a:avLst>
              <a:gd name="adj" fmla="val 5385"/>
            </a:avLst>
          </a:prstGeom>
          <a:solidFill>
            <a:srgbClr val="3D1A1A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6517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49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DEA Verdict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108960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645920" y="31089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0.686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34640" y="31089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(31.4% wasteful)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367588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λ_C =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645920" y="3675888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834640" y="36758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(peer: Branch C)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40080" y="4242816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B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exact: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645920" y="4242816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24/35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834640" y="424281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0.6857...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2542032"/>
            <a:ext cx="4206240" cy="2377440"/>
          </a:xfrm>
          <a:prstGeom prst="roundRect">
            <a:avLst>
              <a:gd name="adj" fmla="val 5385"/>
            </a:avLst>
          </a:prstGeom>
          <a:solidFill>
            <a:srgbClr val="3D1A1A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26517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95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 C (1.6 × C) dominates D completely: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90672"/>
          <a:ext cx="3931920" cy="1600200"/>
        </p:xfrm>
        <a:graphic>
          <a:graphicData uri="http://schemas.openxmlformats.org/drawingml/2006/table">
            <a:tbl>
              <a:tblPr/>
              <a:tblGrid>
                <a:gridCol w="1005840"/>
                <a:gridCol w="914400"/>
                <a:gridCol w="1005840"/>
                <a:gridCol w="1005840"/>
              </a:tblGrid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0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C2020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B4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 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B4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B4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FB4B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₹22Cr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95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Super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2B7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2B7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₹19.2L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52B78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₹28.8Cr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95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95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3.6 FTEs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95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₹8.8L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D4956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+₹6.8Cr more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5C20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3" name="Shape 20"/>
          <p:cNvSpPr/>
          <p:nvPr/>
        </p:nvSpPr>
        <p:spPr>
          <a:xfrm>
            <a:off x="502920" y="4983480"/>
            <a:ext cx="8229600" cy="137160"/>
          </a:xfrm>
          <a:prstGeom prst="roundRect">
            <a:avLst/>
          </a:prstGeom>
          <a:solidFill>
            <a:srgbClr val="B5451B">
              <a:alpha val="50000"/>
            </a:srgbClr>
          </a:solidFill>
          <a:ln w="12700">
            <a:solidFill>
              <a:srgbClr val="B5451B">
                <a:alpha val="5000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466344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targets after two-stage improvement:  6.4 FTEs  ·  ₹19.2L  ·  Same 160 loans  ·  Annual saving: ~₹35 lakhs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Branch D — Two-Stage Improvement  (Full Calculation)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869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B5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θ = 0.6857  |  Virtual peer = 1.6 × Branch C  |  Staff slack = 0.457 FTEs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11480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1325880"/>
            <a:ext cx="1371600" cy="320040"/>
          </a:xfrm>
          <a:prstGeom prst="roundRect">
            <a:avLst>
              <a:gd name="adj" fmla="val 25714"/>
            </a:avLst>
          </a:prstGeom>
          <a:solidFill>
            <a:srgbClr val="B5451B"/>
          </a:solidFill>
          <a:ln w="12700">
            <a:solidFill>
              <a:srgbClr val="B5451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325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965960" y="1344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Radial Contraction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171907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5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ALL inputs by θ = 0.6857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084832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5ECD7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17627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71600" y="217627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× 0.6857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063240" y="217627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6.857 FTEs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2770632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5ECD7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2862072"/>
            <a:ext cx="777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2862072"/>
            <a:ext cx="1691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D2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28 × 0.6857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63240" y="2862072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₹19.200L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520440"/>
            <a:ext cx="3840480" cy="457200"/>
          </a:xfrm>
          <a:prstGeom prst="roundRect">
            <a:avLst>
              <a:gd name="adj" fmla="val 16000"/>
            </a:avLst>
          </a:prstGeom>
          <a:solidFill>
            <a:srgbClr val="FEF2F2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547872"/>
            <a:ext cx="3703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545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inputs cut by 31.4% simultaneously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" y="40416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B5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6.857 staff &gt; virtual peer's 6.4 → slack remains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1234440"/>
            <a:ext cx="4114800" cy="338328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00600" y="1325880"/>
            <a:ext cx="1371600" cy="320040"/>
          </a:xfrm>
          <a:prstGeom prst="roundRect">
            <a:avLst>
              <a:gd name="adj" fmla="val 25714"/>
            </a:avLst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132588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63640" y="134416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Slack Elimination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00600" y="171907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B58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peer = 1.6 × Branch C: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19751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6.4 staff, ₹19.2L, 160 loans, ₹28.8Cr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2331720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5ECD7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2423160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slack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080760" y="2423160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6.857 − 6.400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543800" y="2423160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0.457 FTEs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00600" y="2990088"/>
            <a:ext cx="3840480" cy="566928"/>
          </a:xfrm>
          <a:prstGeom prst="roundRect">
            <a:avLst>
              <a:gd name="adj" fmla="val 12903"/>
            </a:avLst>
          </a:prstGeom>
          <a:solidFill>
            <a:srgbClr val="F5ECD7"/>
          </a:solidFill>
          <a:ln/>
        </p:spPr>
      </p:sp>
      <p:sp>
        <p:nvSpPr>
          <p:cNvPr id="32" name="Text 30"/>
          <p:cNvSpPr/>
          <p:nvPr/>
        </p:nvSpPr>
        <p:spPr>
          <a:xfrm>
            <a:off x="4892040" y="308152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slack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80760" y="3081528"/>
            <a:ext cx="1463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D2B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19.200 − 19.200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543800" y="3081528"/>
            <a:ext cx="914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33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0 (none)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800600" y="3657600"/>
            <a:ext cx="3840480" cy="777240"/>
          </a:xfrm>
          <a:prstGeom prst="roundRect">
            <a:avLst>
              <a:gd name="adj" fmla="val 11765"/>
            </a:avLst>
          </a:prstGeom>
          <a:solidFill>
            <a:srgbClr val="1B4332"/>
          </a:solidFill>
          <a:ln/>
        </p:spPr>
      </p:sp>
      <p:sp>
        <p:nvSpPr>
          <p:cNvPr id="36" name="Text 34"/>
          <p:cNvSpPr/>
          <p:nvPr/>
        </p:nvSpPr>
        <p:spPr>
          <a:xfrm>
            <a:off x="4892040" y="3730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Targets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892040" y="40050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6.400 FTEs  ·  ₹19.200L</a:t>
            </a:r>
            <a:endParaRPr lang="en-US" sz="1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681728"/>
          <a:ext cx="8412480" cy="64008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828800"/>
                <a:gridCol w="2926080"/>
              </a:tblGrid>
              <a:tr h="213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51B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B5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6.857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(₹L)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7B584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oundRect">
            <a:avLst/>
          </a:prstGeom>
          <a:solidFill>
            <a:srgbClr val="1B4332"/>
          </a:solidFill>
          <a:ln w="12700">
            <a:solidFill>
              <a:srgbClr val="1B43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"/>
            <a:ext cx="6858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Complete Results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72400" y="7315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10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05840"/>
          <a:ext cx="8412480" cy="3246120"/>
        </p:xfrm>
        <a:graphic>
          <a:graphicData uri="http://schemas.openxmlformats.org/drawingml/2006/table">
            <a:tbl>
              <a:tblPr/>
              <a:tblGrid>
                <a:gridCol w="822960"/>
                <a:gridCol w="914400"/>
                <a:gridCol w="822960"/>
                <a:gridCol w="822960"/>
                <a:gridCol w="1005840"/>
                <a:gridCol w="1005840"/>
                <a:gridCol w="1005840"/>
                <a:gridCol w="2011680"/>
              </a:tblGrid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θ Score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Peer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λ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Target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Slack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51B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₹15.0L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Efficient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₹18.0L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240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 10% waste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BEB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₹12.0L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Efficient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₹19.2L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 31.4% waste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EF2F2"/>
                    </a:solidFill>
                  </a:tcPr>
                </a:tc>
              </a:tr>
              <a:tr h="5410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B43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₹16.0L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6653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Efficient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43891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43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to tell each manager:</a:t>
            </a:r>
            <a:endParaRPr lang="en-US" sz="13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690872"/>
          <a:ext cx="8412480" cy="475488"/>
        </p:xfrm>
        <a:graphic>
          <a:graphicData uri="http://schemas.openxmlformats.org/drawingml/2006/table">
            <a:tbl>
              <a:tblPr/>
              <a:tblGrid>
                <a:gridCol w="457200"/>
                <a:gridCol w="7955280"/>
              </a:tblGrid>
              <a:tr h="950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Best-practice. Unique deposit+loan balance at 5-person scale. You are a benchmark for small branches.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0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B584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 inefficient. Reduce: 8 → 6 FTEs, ₹20L → ₹18L. Benchmark: Branch C (×1.5). All outputs maintained.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0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dominant benchmark — appears as peer for both B and D. Loan productivity (25/FTE) is best in region.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0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5451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99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Urgent: 31.4% wasteful. Target 6.4 FTEs, ₹19.2L. Save ₹8.8L/quarter (~₹35L/year). Volume ≠ efficiency.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509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33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3D2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 mobilisation champion. ₹26Cr at ₹16L cost is best deposits-per-rupee in region.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0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5029200" cy="5029200"/>
          </a:xfrm>
          <a:prstGeom prst="ellipse">
            <a:avLst/>
          </a:prstGeom>
          <a:solidFill>
            <a:srgbClr val="2D6A4F">
              <a:alpha val="22000"/>
            </a:srgbClr>
          </a:solidFill>
          <a:ln w="12700">
            <a:solidFill>
              <a:srgbClr val="2D6A4F">
                <a:alpha val="2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B5451B">
              <a:alpha val="15000"/>
            </a:srgbClr>
          </a:solidFill>
          <a:ln w="12700">
            <a:solidFill>
              <a:srgbClr val="B5451B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56032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Lessons from the Branches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2697480" cy="1828800"/>
          </a:xfrm>
          <a:prstGeom prst="roundRect">
            <a:avLst>
              <a:gd name="adj" fmla="val 7000"/>
            </a:avLst>
          </a:prstGeom>
          <a:solidFill>
            <a:srgbClr val="2D6A4F">
              <a:alpha val="70000"/>
            </a:srgbClr>
          </a:solidFill>
          <a:ln/>
          <a:effectLst>
            <a:outerShdw sx="100000" sy="100000" kx="0" ky="0" algn="bl" rotWithShape="0" blurRad="127000" dist="50800" dir="2700000">
              <a:srgbClr val="1B4332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0352" y="1234440"/>
            <a:ext cx="457200" cy="4572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30352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15568" y="1252728"/>
            <a:ext cx="1783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≠ Efficiency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" y="1755648"/>
            <a:ext cx="23774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D processed the most loans but wasted the most resources. High output achieved through brute force is not DEA-efficient.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097280"/>
            <a:ext cx="2697480" cy="1828800"/>
          </a:xfrm>
          <a:prstGeom prst="roundRect">
            <a:avLst>
              <a:gd name="adj" fmla="val 7000"/>
            </a:avLst>
          </a:prstGeom>
          <a:solidFill>
            <a:srgbClr val="B5451B">
              <a:alpha val="70000"/>
            </a:srgbClr>
          </a:solidFill>
          <a:ln/>
          <a:effectLst>
            <a:outerShdw sx="100000" sy="100000" kx="0" ky="0" algn="bl" rotWithShape="0" blurRad="127000" dist="50800" dir="2700000">
              <a:srgbClr val="1B4332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10712" y="1234440"/>
            <a:ext cx="457200" cy="457200"/>
          </a:xfrm>
          <a:prstGeom prst="ellipse">
            <a:avLst/>
          </a:prstGeom>
          <a:solidFill>
            <a:srgbClr val="D4956A"/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10712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995928" y="1252728"/>
            <a:ext cx="1783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champion wins one dimension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10712" y="1755648"/>
            <a:ext cx="23774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wins loans. E wins deposits. A holds a unique scale position. Each is undominated precisely because of that specialisation.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26480" y="1097280"/>
            <a:ext cx="2697480" cy="1828800"/>
          </a:xfrm>
          <a:prstGeom prst="roundRect">
            <a:avLst>
              <a:gd name="adj" fmla="val 7000"/>
            </a:avLst>
          </a:prstGeom>
          <a:solidFill>
            <a:srgbClr val="7B5842">
              <a:alpha val="70000"/>
            </a:srgbClr>
          </a:solidFill>
          <a:ln/>
          <a:effectLst>
            <a:outerShdw sx="100000" sy="100000" kx="0" ky="0" algn="bl" rotWithShape="0" blurRad="127000" dist="50800" dir="2700000">
              <a:srgbClr val="1B4332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91072" y="1234440"/>
            <a:ext cx="457200" cy="457200"/>
          </a:xfrm>
          <a:prstGeom prst="ellipse">
            <a:avLst/>
          </a:prstGeom>
          <a:solidFill>
            <a:srgbClr val="FEFAE0"/>
          </a:solidFill>
          <a:ln w="12700">
            <a:solidFill>
              <a:srgbClr val="FEFAE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12344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76288" y="1252728"/>
            <a:ext cx="17830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EFA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reveals your benchmark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91072" y="1755648"/>
            <a:ext cx="237744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λ tells you not just your score but exactly which units to learn from and in what proportion. It is prescriptive, not just diagnostic.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4279392" cy="1828800"/>
          </a:xfrm>
          <a:prstGeom prst="roundRect">
            <a:avLst>
              <a:gd name="adj" fmla="val 7000"/>
            </a:avLst>
          </a:prstGeom>
          <a:solidFill>
            <a:srgbClr val="2D6A4F">
              <a:alpha val="70000"/>
            </a:srgbClr>
          </a:solidFill>
          <a:ln/>
          <a:effectLst>
            <a:outerShdw sx="100000" sy="100000" kx="0" ky="0" algn="bl" rotWithShape="0" blurRad="127000" dist="50800" dir="2700000">
              <a:srgbClr val="1B4332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30352" y="3246120"/>
            <a:ext cx="457200" cy="457200"/>
          </a:xfrm>
          <a:prstGeom prst="ellipse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0352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15568" y="3264408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stages — order matters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" y="3767328"/>
            <a:ext cx="395935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the radial contraction (× θ), then the slack elimination. Stage 2 only happens after Stage 1. The final target is not just θ × inputs.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28032" y="3108960"/>
            <a:ext cx="4279392" cy="1828800"/>
          </a:xfrm>
          <a:prstGeom prst="roundRect">
            <a:avLst>
              <a:gd name="adj" fmla="val 7000"/>
            </a:avLst>
          </a:prstGeom>
          <a:solidFill>
            <a:srgbClr val="B5451B">
              <a:alpha val="70000"/>
            </a:srgbClr>
          </a:solidFill>
          <a:ln/>
          <a:effectLst>
            <a:outerShdw sx="100000" sy="100000" kx="0" ky="0" algn="bl" rotWithShape="0" blurRad="127000" dist="50800" dir="2700000">
              <a:srgbClr val="1B4332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92624" y="3246120"/>
            <a:ext cx="457200" cy="457200"/>
          </a:xfrm>
          <a:prstGeom prst="ellipse">
            <a:avLst/>
          </a:prstGeom>
          <a:solidFill>
            <a:srgbClr val="D4956A"/>
          </a:solidFill>
          <a:ln w="12700">
            <a:solidFill>
              <a:srgbClr val="D495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3246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577840" y="3264408"/>
            <a:ext cx="3364992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495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 is relative, not absolute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92624" y="3767328"/>
            <a:ext cx="3959352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C9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1.0 means undominated within this sample. Add branches, and some scores may fall. Efficiency is always comparative.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4846320"/>
            <a:ext cx="8046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6B9B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DEA·Lab: dea-classroom-ifhe.web.app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Five Branches — A DEA Story</dc:title>
  <dc:subject>PptxGenJS Presentation</dc:subject>
  <dc:creator>Dr. Sanjay Fuloria</dc:creator>
  <cp:lastModifiedBy>Dr. Sanjay Fuloria</cp:lastModifiedBy>
  <cp:revision>1</cp:revision>
  <dcterms:created xsi:type="dcterms:W3CDTF">2026-07-10T05:57:19Z</dcterms:created>
  <dcterms:modified xsi:type="dcterms:W3CDTF">2026-07-10T05:57:19Z</dcterms:modified>
</cp:coreProperties>
</file>